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06240"/>
            <a:ext cx="2011680" cy="2011680"/>
          </a:xfrm>
          <a:prstGeom prst="ellipse">
            <a:avLst/>
          </a:prstGeom>
          <a:solidFill>
            <a:srgbClr val="C08A2E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2B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CSE-2201  ·  DATABASE MANAGEMENT SYSTEM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University ERP &amp;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Connect Portal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9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academic ERP schema design and a live full-stack campus platform — classes, achievements, chat &amp; notices.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617720"/>
            <a:ext cx="10515600" cy="1417320"/>
          </a:xfrm>
          <a:prstGeom prst="roundRect">
            <a:avLst>
              <a:gd name="adj" fmla="val 5161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47731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Project Team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51023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Syed Muhtasim Apon (Alam)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97280" y="54681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· Backend &amp; Auth · Deployment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51023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Abdullah Sorwar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0" y="54681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Chatroom · UI/UX &amp; Interaction Design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6263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Science &amp; Engineering, University of Dhaka  |  2nd Year, 2nd Semester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required sections, five-minute walkthrough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3F5FA"/>
          </a:solidFill>
          <a:ln/>
          <a:effectLst>
            <a:outerShdw sx="100000" sy="100000" kx="0" ky="0" algn="bl" rotWithShape="0" blurRad="101600" dist="38100" dir="5400000">
              <a:srgbClr val="16213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68196" y="2139696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1568196" y="2139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283464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Storyline of the Project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13232" y="338328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auth demo to full campus ERP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37560" y="192024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3F5FA"/>
          </a:solidFill>
          <a:ln/>
          <a:effectLst>
            <a:outerShdw sx="100000" sy="100000" kx="0" ky="0" algn="bl" rotWithShape="0" blurRad="101600" dist="38100" dir="5400000">
              <a:srgbClr val="16213E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57116" y="2139696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4357116" y="2139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02152" y="283464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Diagram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502152" y="338328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&amp; core relational skeleton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26480" y="192024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3F5FA"/>
          </a:solidFill>
          <a:ln/>
          <a:effectLst>
            <a:outerShdw sx="100000" sy="100000" kx="0" ky="0" algn="bl" rotWithShape="0" blurRad="101600" dist="38100" dir="5400000">
              <a:srgbClr val="16213E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46036" y="2139696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7146036" y="2139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91072" y="283464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E-R Diagram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291072" y="338328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 relationships &amp; cardinalities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915400" y="192024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3F5FA"/>
          </a:solidFill>
          <a:ln/>
          <a:effectLst>
            <a:outerShdw sx="100000" sy="100000" kx="0" ky="0" algn="bl" rotWithShape="0" blurRad="101600" dist="38100" dir="5400000">
              <a:srgbClr val="16213E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934956" y="2139696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9934956" y="2139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079992" y="283464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Goodness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079992" y="338328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Normalization, constraints, triggers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416052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3F5FA"/>
          </a:solidFill>
          <a:ln/>
          <a:effectLst>
            <a:outerShdw sx="100000" sy="100000" kx="0" ky="0" algn="bl" rotWithShape="0" blurRad="101600" dist="38100" dir="5400000">
              <a:srgbClr val="16213E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568196" y="4379976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1568196" y="43799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13232" y="507492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Techniques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13232" y="562356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Frontend, backend &amp; database stack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37560" y="416052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3F5FA"/>
          </a:solidFill>
          <a:ln/>
          <a:effectLst>
            <a:outerShdw sx="100000" sy="100000" kx="0" ky="0" algn="bl" rotWithShape="0" blurRad="101600" dist="38100" dir="5400000">
              <a:srgbClr val="16213E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57116" y="4379976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2" name="Text 30"/>
          <p:cNvSpPr/>
          <p:nvPr/>
        </p:nvSpPr>
        <p:spPr>
          <a:xfrm>
            <a:off x="4357116" y="43799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502152" y="507492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 Contributions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3502152" y="562356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built what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26480" y="416052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3F5FA"/>
          </a:solidFill>
          <a:ln/>
          <a:effectLst>
            <a:outerShdw sx="100000" sy="100000" kx="0" ky="0" algn="bl" rotWithShape="0" blurRad="101600" dist="38100" dir="5400000">
              <a:srgbClr val="16213E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146036" y="4379976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7" name="Text 35"/>
          <p:cNvSpPr/>
          <p:nvPr/>
        </p:nvSpPr>
        <p:spPr>
          <a:xfrm>
            <a:off x="7146036" y="43799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291072" y="507492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6291072" y="562356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gained from the project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915400" y="416052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3F5FA"/>
          </a:solidFill>
          <a:ln/>
          <a:effectLst>
            <a:outerShdw sx="100000" sy="100000" kx="0" ky="0" algn="bl" rotWithShape="0" blurRad="101600" dist="38100" dir="5400000">
              <a:srgbClr val="16213E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934956" y="4379976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2" name="Text 40"/>
          <p:cNvSpPr/>
          <p:nvPr/>
        </p:nvSpPr>
        <p:spPr>
          <a:xfrm>
            <a:off x="9934956" y="43799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9079992" y="507492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Plan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9079992" y="562356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ERP &amp; Campus Portal  |  CSE-2201 DBMS Lab Project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STORYLINE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Sign-In Page to a Campus Platform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set out to solve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03520" cy="3977640"/>
          </a:xfrm>
          <a:prstGeom prst="roundRect">
            <a:avLst>
              <a:gd name="adj" fmla="val 1839"/>
            </a:avLst>
          </a:prstGeom>
          <a:solidFill>
            <a:srgbClr val="F3F5FA"/>
          </a:solidFill>
          <a:ln/>
          <a:effectLst>
            <a:outerShdw sx="100000" sy="100000" kx="0" ky="0" algn="bl" rotWithShape="0" blurRad="101600" dist="38100" dir="5400000">
              <a:srgbClr val="16213E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03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notices, and marks live in scattered spreadsheets and group chats.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have no single place to showcase projects, certificates or research.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built-in way to message classmates, teachers, or academic advisors.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&amp; event information is fragmented across department pages.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874520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16213E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2103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B6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37960" y="25146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b="1" dirty="0">
                <a:solidFill>
                  <a:srgbClr val="E9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authenticated portal: sign up → role-based onboarding (student/teacher).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b="1" dirty="0">
                <a:solidFill>
                  <a:srgbClr val="E9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Google-Classroom-style module for courses, resources, attendance &amp; CGPA.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b="1" dirty="0">
                <a:solidFill>
                  <a:srgbClr val="E9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achievements portfolio for projects, certificates, papers &amp; hackathons.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b="1" dirty="0">
                <a:solidFill>
                  <a:srgbClr val="E9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realtime chatroom + a categorized, poll-enabled notice board with live notifications.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ERP &amp; Campus Portal  |  CSE-2201 DBMS Lab Project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STORYLINE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Core Modules, One Portal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Next.js + FastAPI + Supabase over ~7 weeks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3F5FA"/>
          </a:solidFill>
          <a:ln/>
          <a:effectLst>
            <a:outerShdw sx="100000" sy="100000" kx="0" ky="0" algn="bl" rotWithShape="0" blurRad="101600" dist="38100" dir="5400000">
              <a:srgbClr val="16213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075688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20574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 &amp; Profile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808" y="258775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signup, onboarding, locked-field profiles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187452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3F5FA"/>
          </a:solidFill>
          <a:ln/>
          <a:effectLst>
            <a:outerShdw sx="100000" sy="100000" kx="0" ky="0" algn="bl" rotWithShape="0" blurRad="101600" dist="38100" dir="5400000">
              <a:srgbClr val="16213E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44568" y="2075688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4544568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20640" y="20574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Classes (LMS)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44568" y="258775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Courses, resources, attendance, exams, CGPA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38160" y="187452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3F5FA"/>
          </a:solidFill>
          <a:ln/>
          <a:effectLst>
            <a:outerShdw sx="100000" sy="100000" kx="0" ky="0" algn="bl" rotWithShape="0" blurRad="101600" dist="38100" dir="5400000">
              <a:srgbClr val="16213E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39328" y="2075688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339328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915400" y="20574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Achievements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39328" y="258775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Projects, certificates, papers, hackathons portfolio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42900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3F5FA"/>
          </a:solidFill>
          <a:ln/>
          <a:effectLst>
            <a:outerShdw sx="100000" sy="100000" kx="0" ky="0" algn="bl" rotWithShape="0" blurRad="101600" dist="38100" dir="5400000">
              <a:srgbClr val="16213E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3630168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3630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25880" y="36118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Chatroom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9808" y="414223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/ group / advisor messaging, realtime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43400" y="342900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3F5FA"/>
          </a:solidFill>
          <a:ln/>
          <a:effectLst>
            <a:outerShdw sx="100000" sy="100000" kx="0" ky="0" algn="bl" rotWithShape="0" blurRad="101600" dist="38100" dir="5400000">
              <a:srgbClr val="16213E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44568" y="3630168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4544568" y="3630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120640" y="36118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Notice Board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44568" y="414223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Categorized posts, polls, reactions, notifications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38160" y="342900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3F5FA"/>
          </a:solidFill>
          <a:ln/>
          <a:effectLst>
            <a:outerShdw sx="100000" sy="100000" kx="0" ky="0" algn="bl" rotWithShape="0" blurRad="101600" dist="38100" dir="5400000">
              <a:srgbClr val="16213E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39328" y="3630168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1B2A4A"/>
          </a:solidFill>
          <a:ln/>
        </p:spPr>
      </p:sp>
      <p:sp>
        <p:nvSpPr>
          <p:cNvPr id="32" name="Text 30"/>
          <p:cNvSpPr/>
          <p:nvPr/>
        </p:nvSpPr>
        <p:spPr>
          <a:xfrm>
            <a:off x="8339328" y="3630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915400" y="36118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Faculty &amp; Blogs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39328" y="414223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+ IEEE/JMLR research feeds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5440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5989320"/>
            <a:ext cx="10881360" cy="9144"/>
          </a:xfrm>
          <a:prstGeom prst="line">
            <a:avLst/>
          </a:prstGeom>
          <a:noFill/>
          <a:ln w="31750">
            <a:solidFill>
              <a:srgbClr val="C9D2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7784" y="5907024"/>
            <a:ext cx="164592" cy="164592"/>
          </a:xfrm>
          <a:prstGeom prst="ellipse">
            <a:avLst/>
          </a:prstGeom>
          <a:solidFill>
            <a:srgbClr val="C08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-137160" y="611733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demo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(schema draft)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78124" y="5907024"/>
            <a:ext cx="164592" cy="164592"/>
          </a:xfrm>
          <a:prstGeom prst="ellipse">
            <a:avLst/>
          </a:prstGeom>
          <a:solidFill>
            <a:srgbClr val="C08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83180" y="611733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998464" y="5907024"/>
            <a:ext cx="164592" cy="164592"/>
          </a:xfrm>
          <a:prstGeom prst="ellipse">
            <a:avLst/>
          </a:prstGeom>
          <a:solidFill>
            <a:srgbClr val="C08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03520" y="611733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718804" y="5907024"/>
            <a:ext cx="164592" cy="164592"/>
          </a:xfrm>
          <a:prstGeom prst="ellipse">
            <a:avLst/>
          </a:prstGeom>
          <a:solidFill>
            <a:srgbClr val="C08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23860" y="611733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Chatroom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board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1439144" y="5907024"/>
            <a:ext cx="164592" cy="164592"/>
          </a:xfrm>
          <a:prstGeom prst="ellipse">
            <a:avLst/>
          </a:prstGeom>
          <a:solidFill>
            <a:srgbClr val="C08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744200" y="611733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ERP &amp; Campus Portal  |  CSE-2201 DBMS Lab Project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SCHEMA DIAGRAM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Tables Across 5 Functional Modules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DBMS design — module-level schema map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16213E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2112264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 Infrastructure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9808" y="2514600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B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tables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2834640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Building, Classroom, Department,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9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Program, Semester, TimeSlot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16213E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44568" y="2112264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 &amp; People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44568" y="2514600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B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tables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44568" y="2834640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Instructor, Staff, Student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38160" y="196596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16213E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39328" y="2112264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&amp; Scheduling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39328" y="2514600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B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tables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39328" y="2834640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Course, Section, Enrollment,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9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Assessment, Advisor...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23160" y="416052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16213E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624328" y="4306824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Classroom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2624328" y="4709160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B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tables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24328" y="5029200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Classroom_Post, Course_Material,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9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Assignment, Discussion_Thread...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416052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16213E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19088" y="4306824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University Services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19088" y="4709160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B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tables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19088" y="5029200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Notice, Event, Teacher_Review,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9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Hall, Transport, Permission...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0" y="3794760"/>
            <a:ext cx="9144" cy="365760"/>
          </a:xfrm>
          <a:prstGeom prst="line">
            <a:avLst/>
          </a:prstGeom>
          <a:noFill/>
          <a:ln w="15875">
            <a:solidFill>
              <a:srgbClr val="5B6B8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0" y="3794760"/>
            <a:ext cx="9144" cy="365760"/>
          </a:xfrm>
          <a:prstGeom prst="line">
            <a:avLst/>
          </a:prstGeom>
          <a:noFill/>
          <a:ln w="15875">
            <a:solidFill>
              <a:srgbClr val="5B6B8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0" y="3794760"/>
            <a:ext cx="9144" cy="365760"/>
          </a:xfrm>
          <a:prstGeom prst="line">
            <a:avLst/>
          </a:prstGeom>
          <a:noFill/>
          <a:ln w="15875">
            <a:solidFill>
              <a:srgbClr val="5B6B8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6800" y="3794760"/>
            <a:ext cx="9144" cy="365760"/>
          </a:xfrm>
          <a:prstGeom prst="line">
            <a:avLst/>
          </a:prstGeom>
          <a:noFill/>
          <a:ln w="15875">
            <a:solidFill>
              <a:srgbClr val="5B6B8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ERP &amp; Campus Portal  |  CSE-2201 DBMS Lab Project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SCHEMA DIAGRAM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Relational Skeleton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keys, foreign keys &amp; the academic data flow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E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37360"/>
            <a:ext cx="2286000" cy="310896"/>
          </a:xfrm>
          <a:prstGeom prst="roundRect">
            <a:avLst>
              <a:gd name="adj" fmla="val 17647"/>
            </a:avLst>
          </a:prstGeom>
          <a:solidFill>
            <a:srgbClr val="1B2A4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92808"/>
            <a:ext cx="2286000" cy="1554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373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30352" y="2103120"/>
            <a:ext cx="21396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dept_id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dept_name, dept_code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26080" y="173736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E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26080" y="1737360"/>
            <a:ext cx="2286000" cy="310896"/>
          </a:xfrm>
          <a:prstGeom prst="roundRect">
            <a:avLst>
              <a:gd name="adj" fmla="val 17647"/>
            </a:avLst>
          </a:prstGeom>
          <a:solidFill>
            <a:srgbClr val="1B2A4A"/>
          </a:solidFill>
          <a:ln/>
        </p:spPr>
      </p:sp>
      <p:sp>
        <p:nvSpPr>
          <p:cNvPr id="12" name="Shape 10"/>
          <p:cNvSpPr/>
          <p:nvPr/>
        </p:nvSpPr>
        <p:spPr>
          <a:xfrm>
            <a:off x="2926080" y="1892808"/>
            <a:ext cx="2286000" cy="1554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2926080" y="17373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999232" y="2103120"/>
            <a:ext cx="21396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program_id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dept_id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863840" y="173736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E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863840" y="1737360"/>
            <a:ext cx="2286000" cy="310896"/>
          </a:xfrm>
          <a:prstGeom prst="roundRect">
            <a:avLst>
              <a:gd name="adj" fmla="val 17647"/>
            </a:avLst>
          </a:prstGeom>
          <a:solidFill>
            <a:srgbClr val="1B2A4A"/>
          </a:solidFill>
          <a:ln/>
        </p:spPr>
      </p:sp>
      <p:sp>
        <p:nvSpPr>
          <p:cNvPr id="17" name="Shape 15"/>
          <p:cNvSpPr/>
          <p:nvPr/>
        </p:nvSpPr>
        <p:spPr>
          <a:xfrm>
            <a:off x="7863840" y="1892808"/>
            <a:ext cx="2286000" cy="1554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0" y="17373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936992" y="2103120"/>
            <a:ext cx="21396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course_id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dept_id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15468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E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154680"/>
            <a:ext cx="2286000" cy="310896"/>
          </a:xfrm>
          <a:prstGeom prst="roundRect">
            <a:avLst>
              <a:gd name="adj" fmla="val 17647"/>
            </a:avLst>
          </a:prstGeom>
          <a:solidFill>
            <a:srgbClr val="1B2A4A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3310128"/>
            <a:ext cx="2286000" cy="1554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1546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30352" y="3520440"/>
            <a:ext cx="21396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instructor_id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user_id, dept_id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926080" y="315468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E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926080" y="3154680"/>
            <a:ext cx="2286000" cy="310896"/>
          </a:xfrm>
          <a:prstGeom prst="roundRect">
            <a:avLst>
              <a:gd name="adj" fmla="val 17647"/>
            </a:avLst>
          </a:prstGeom>
          <a:solidFill>
            <a:srgbClr val="1B2A4A"/>
          </a:solidFill>
          <a:ln/>
        </p:spPr>
      </p:sp>
      <p:sp>
        <p:nvSpPr>
          <p:cNvPr id="27" name="Shape 25"/>
          <p:cNvSpPr/>
          <p:nvPr/>
        </p:nvSpPr>
        <p:spPr>
          <a:xfrm>
            <a:off x="2926080" y="3310128"/>
            <a:ext cx="2286000" cy="1554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8" name="Text 26"/>
          <p:cNvSpPr/>
          <p:nvPr/>
        </p:nvSpPr>
        <p:spPr>
          <a:xfrm>
            <a:off x="2926080" y="31546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999232" y="3520440"/>
            <a:ext cx="21396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student_id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user_id, program_id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863840" y="315468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E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863840" y="3154680"/>
            <a:ext cx="2286000" cy="310896"/>
          </a:xfrm>
          <a:prstGeom prst="roundRect">
            <a:avLst>
              <a:gd name="adj" fmla="val 17647"/>
            </a:avLst>
          </a:prstGeom>
          <a:solidFill>
            <a:srgbClr val="1B2A4A"/>
          </a:solidFill>
          <a:ln/>
        </p:spPr>
      </p:sp>
      <p:sp>
        <p:nvSpPr>
          <p:cNvPr id="32" name="Shape 30"/>
          <p:cNvSpPr/>
          <p:nvPr/>
        </p:nvSpPr>
        <p:spPr>
          <a:xfrm>
            <a:off x="7863840" y="3310128"/>
            <a:ext cx="2286000" cy="1554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3" name="Text 31"/>
          <p:cNvSpPr/>
          <p:nvPr/>
        </p:nvSpPr>
        <p:spPr>
          <a:xfrm>
            <a:off x="7863840" y="31546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936992" y="3520440"/>
            <a:ext cx="21396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section_id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course_id, instructor_id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926080" y="457200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E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926080" y="4572000"/>
            <a:ext cx="2286000" cy="310896"/>
          </a:xfrm>
          <a:prstGeom prst="roundRect">
            <a:avLst>
              <a:gd name="adj" fmla="val 17647"/>
            </a:avLst>
          </a:prstGeom>
          <a:solidFill>
            <a:srgbClr val="1B2A4A"/>
          </a:solidFill>
          <a:ln/>
        </p:spPr>
      </p:sp>
      <p:sp>
        <p:nvSpPr>
          <p:cNvPr id="37" name="Shape 35"/>
          <p:cNvSpPr/>
          <p:nvPr/>
        </p:nvSpPr>
        <p:spPr>
          <a:xfrm>
            <a:off x="2926080" y="4727448"/>
            <a:ext cx="2286000" cy="1554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8" name="Text 36"/>
          <p:cNvSpPr/>
          <p:nvPr/>
        </p:nvSpPr>
        <p:spPr>
          <a:xfrm>
            <a:off x="2926080" y="457200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2999232" y="4937760"/>
            <a:ext cx="21396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enrollment_id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student_id, section_id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863840" y="457200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E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863840" y="4572000"/>
            <a:ext cx="2286000" cy="310896"/>
          </a:xfrm>
          <a:prstGeom prst="roundRect">
            <a:avLst>
              <a:gd name="adj" fmla="val 17647"/>
            </a:avLst>
          </a:prstGeom>
          <a:solidFill>
            <a:srgbClr val="1C7293"/>
          </a:solidFill>
          <a:ln/>
        </p:spPr>
      </p:sp>
      <p:sp>
        <p:nvSpPr>
          <p:cNvPr id="42" name="Shape 40"/>
          <p:cNvSpPr/>
          <p:nvPr/>
        </p:nvSpPr>
        <p:spPr>
          <a:xfrm>
            <a:off x="7863840" y="4727448"/>
            <a:ext cx="2286000" cy="1554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3" name="Text 41"/>
          <p:cNvSpPr/>
          <p:nvPr/>
        </p:nvSpPr>
        <p:spPr>
          <a:xfrm>
            <a:off x="7863840" y="457200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/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7936992" y="4937760"/>
            <a:ext cx="21396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section_id / enrollment_id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743200" y="2286000"/>
            <a:ext cx="182880" cy="9144"/>
          </a:xfrm>
          <a:prstGeom prst="line">
            <a:avLst/>
          </a:prstGeom>
          <a:noFill/>
          <a:ln w="15875">
            <a:solidFill>
              <a:srgbClr val="5B6B8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00200" y="2834640"/>
            <a:ext cx="9144" cy="320040"/>
          </a:xfrm>
          <a:prstGeom prst="line">
            <a:avLst/>
          </a:prstGeom>
          <a:noFill/>
          <a:ln w="15875">
            <a:solidFill>
              <a:srgbClr val="5B6B8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069080" y="2834640"/>
            <a:ext cx="9144" cy="320040"/>
          </a:xfrm>
          <a:prstGeom prst="line">
            <a:avLst/>
          </a:prstGeom>
          <a:noFill/>
          <a:ln w="15875">
            <a:solidFill>
              <a:srgbClr val="5B6B8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06840" y="2834640"/>
            <a:ext cx="9144" cy="320040"/>
          </a:xfrm>
          <a:prstGeom prst="line">
            <a:avLst/>
          </a:prstGeom>
          <a:noFill/>
          <a:ln w="15875">
            <a:solidFill>
              <a:srgbClr val="5B6B8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069080" y="4251960"/>
            <a:ext cx="9144" cy="320040"/>
          </a:xfrm>
          <a:prstGeom prst="line">
            <a:avLst/>
          </a:prstGeom>
          <a:noFill/>
          <a:ln w="15875">
            <a:solidFill>
              <a:srgbClr val="5B6B8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006840" y="4251960"/>
            <a:ext cx="9144" cy="320040"/>
          </a:xfrm>
          <a:prstGeom prst="line">
            <a:avLst/>
          </a:prstGeom>
          <a:noFill/>
          <a:ln w="15875">
            <a:solidFill>
              <a:srgbClr val="5B6B8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212080" y="5120640"/>
            <a:ext cx="2651760" cy="9144"/>
          </a:xfrm>
          <a:prstGeom prst="line">
            <a:avLst/>
          </a:prstGeom>
          <a:noFill/>
          <a:ln w="15875">
            <a:solidFill>
              <a:srgbClr val="5B6B8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5989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→ dept_id referenced by Course &amp; Instructor  ·  Solid line = 1:N foreign-key link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ERP &amp; Campus Portal  |  CSE-2201 DBMS Lab Project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E-R DIAGRAM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Entity–Relationship Diagram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Crow's-foot cardinalities across the ERP schema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E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28800"/>
            <a:ext cx="2103120" cy="310896"/>
          </a:xfrm>
          <a:prstGeom prst="roundRect">
            <a:avLst>
              <a:gd name="adj" fmla="val 17647"/>
            </a:avLst>
          </a:prstGeom>
          <a:solidFill>
            <a:srgbClr val="1B2A4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984248"/>
            <a:ext cx="2103120" cy="1554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2880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0" y="182880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E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0" y="1828800"/>
            <a:ext cx="2103120" cy="310896"/>
          </a:xfrm>
          <a:prstGeom prst="roundRect">
            <a:avLst>
              <a:gd name="adj" fmla="val 17647"/>
            </a:avLst>
          </a:prstGeom>
          <a:solidFill>
            <a:srgbClr val="1B2A4A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0" y="1984248"/>
            <a:ext cx="2103120" cy="1554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182880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0" y="182880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E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0" y="1828800"/>
            <a:ext cx="2103120" cy="310896"/>
          </a:xfrm>
          <a:prstGeom prst="roundRect">
            <a:avLst>
              <a:gd name="adj" fmla="val 17647"/>
            </a:avLst>
          </a:prstGeom>
          <a:solidFill>
            <a:srgbClr val="1B2A4A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0" y="1984248"/>
            <a:ext cx="2103120" cy="1554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0" y="182880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288036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E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880360"/>
            <a:ext cx="2103120" cy="310896"/>
          </a:xfrm>
          <a:prstGeom prst="roundRect">
            <a:avLst>
              <a:gd name="adj" fmla="val 17647"/>
            </a:avLst>
          </a:prstGeom>
          <a:solidFill>
            <a:srgbClr val="1B2A4A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035808"/>
            <a:ext cx="2103120" cy="1554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88036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0" y="288036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E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0" y="2880360"/>
            <a:ext cx="2103120" cy="310896"/>
          </a:xfrm>
          <a:prstGeom prst="roundRect">
            <a:avLst>
              <a:gd name="adj" fmla="val 17647"/>
            </a:avLst>
          </a:prstGeom>
          <a:solidFill>
            <a:srgbClr val="1B2A4A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0" y="3035808"/>
            <a:ext cx="2103120" cy="1554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0" y="288036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315200" y="288036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E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0" y="2880360"/>
            <a:ext cx="2103120" cy="310896"/>
          </a:xfrm>
          <a:prstGeom prst="roundRect">
            <a:avLst>
              <a:gd name="adj" fmla="val 17647"/>
            </a:avLst>
          </a:prstGeom>
          <a:solidFill>
            <a:srgbClr val="1B2A4A"/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0" y="3035808"/>
            <a:ext cx="2103120" cy="1554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0" y="288036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743200" y="393192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E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0" y="3931920"/>
            <a:ext cx="2103120" cy="310896"/>
          </a:xfrm>
          <a:prstGeom prst="roundRect">
            <a:avLst>
              <a:gd name="adj" fmla="val 17647"/>
            </a:avLst>
          </a:prstGeom>
          <a:solidFill>
            <a:srgbClr val="1B2A4A"/>
          </a:solidFill>
          <a:ln/>
        </p:spPr>
      </p:sp>
      <p:sp>
        <p:nvSpPr>
          <p:cNvPr id="31" name="Shape 29"/>
          <p:cNvSpPr/>
          <p:nvPr/>
        </p:nvSpPr>
        <p:spPr>
          <a:xfrm>
            <a:off x="2743200" y="4087368"/>
            <a:ext cx="2103120" cy="1554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0" y="39319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315200" y="393192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E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15200" y="3931920"/>
            <a:ext cx="2103120" cy="310896"/>
          </a:xfrm>
          <a:prstGeom prst="roundRect">
            <a:avLst>
              <a:gd name="adj" fmla="val 17647"/>
            </a:avLst>
          </a:prstGeom>
          <a:solidFill>
            <a:srgbClr val="1B2A4A"/>
          </a:solidFill>
          <a:ln/>
        </p:spPr>
      </p:sp>
      <p:sp>
        <p:nvSpPr>
          <p:cNvPr id="35" name="Shape 33"/>
          <p:cNvSpPr/>
          <p:nvPr/>
        </p:nvSpPr>
        <p:spPr>
          <a:xfrm>
            <a:off x="7315200" y="4087368"/>
            <a:ext cx="2103120" cy="1554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0" y="39319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57200" y="498348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E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7200" y="4983480"/>
            <a:ext cx="2103120" cy="310896"/>
          </a:xfrm>
          <a:prstGeom prst="roundRect">
            <a:avLst>
              <a:gd name="adj" fmla="val 17647"/>
            </a:avLst>
          </a:prstGeom>
          <a:solidFill>
            <a:srgbClr val="1C7293"/>
          </a:solidFill>
          <a:ln/>
        </p:spPr>
      </p:sp>
      <p:sp>
        <p:nvSpPr>
          <p:cNvPr id="39" name="Shape 37"/>
          <p:cNvSpPr/>
          <p:nvPr/>
        </p:nvSpPr>
        <p:spPr>
          <a:xfrm>
            <a:off x="457200" y="5138928"/>
            <a:ext cx="2103120" cy="1554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49834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Review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2743200" y="498348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E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743200" y="4983480"/>
            <a:ext cx="2103120" cy="310896"/>
          </a:xfrm>
          <a:prstGeom prst="roundRect">
            <a:avLst>
              <a:gd name="adj" fmla="val 17647"/>
            </a:avLst>
          </a:prstGeom>
          <a:solidFill>
            <a:srgbClr val="1C7293"/>
          </a:solidFill>
          <a:ln/>
        </p:spPr>
      </p:sp>
      <p:sp>
        <p:nvSpPr>
          <p:cNvPr id="43" name="Shape 41"/>
          <p:cNvSpPr/>
          <p:nvPr/>
        </p:nvSpPr>
        <p:spPr>
          <a:xfrm>
            <a:off x="2743200" y="5138928"/>
            <a:ext cx="2103120" cy="1554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4" name="Text 42"/>
          <p:cNvSpPr/>
          <p:nvPr/>
        </p:nvSpPr>
        <p:spPr>
          <a:xfrm>
            <a:off x="2743200" y="49834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029200" y="498348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E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029200" y="4983480"/>
            <a:ext cx="2103120" cy="310896"/>
          </a:xfrm>
          <a:prstGeom prst="roundRect">
            <a:avLst>
              <a:gd name="adj" fmla="val 17647"/>
            </a:avLst>
          </a:prstGeom>
          <a:solidFill>
            <a:srgbClr val="1C7293"/>
          </a:solidFill>
          <a:ln/>
        </p:spPr>
      </p:sp>
      <p:sp>
        <p:nvSpPr>
          <p:cNvPr id="47" name="Shape 45"/>
          <p:cNvSpPr/>
          <p:nvPr/>
        </p:nvSpPr>
        <p:spPr>
          <a:xfrm>
            <a:off x="5029200" y="5138928"/>
            <a:ext cx="2103120" cy="1554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0" y="49834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Route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7315200" y="498348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E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315200" y="4983480"/>
            <a:ext cx="2103120" cy="310896"/>
          </a:xfrm>
          <a:prstGeom prst="roundRect">
            <a:avLst>
              <a:gd name="adj" fmla="val 17647"/>
            </a:avLst>
          </a:prstGeom>
          <a:solidFill>
            <a:srgbClr val="1C7293"/>
          </a:solidFill>
          <a:ln/>
        </p:spPr>
      </p:sp>
      <p:sp>
        <p:nvSpPr>
          <p:cNvPr id="51" name="Shape 49"/>
          <p:cNvSpPr/>
          <p:nvPr/>
        </p:nvSpPr>
        <p:spPr>
          <a:xfrm>
            <a:off x="7315200" y="5138928"/>
            <a:ext cx="2103120" cy="1554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2" name="Text 50"/>
          <p:cNvSpPr/>
          <p:nvPr/>
        </p:nvSpPr>
        <p:spPr>
          <a:xfrm>
            <a:off x="7315200" y="49834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9601200" y="498348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E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9601200" y="4983480"/>
            <a:ext cx="2103120" cy="310896"/>
          </a:xfrm>
          <a:prstGeom prst="roundRect">
            <a:avLst>
              <a:gd name="adj" fmla="val 17647"/>
            </a:avLst>
          </a:prstGeom>
          <a:solidFill>
            <a:srgbClr val="1C7293"/>
          </a:solidFill>
          <a:ln/>
        </p:spPr>
      </p:sp>
      <p:sp>
        <p:nvSpPr>
          <p:cNvPr id="55" name="Shape 53"/>
          <p:cNvSpPr/>
          <p:nvPr/>
        </p:nvSpPr>
        <p:spPr>
          <a:xfrm>
            <a:off x="9601200" y="5138928"/>
            <a:ext cx="2103120" cy="1554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6" name="Text 54"/>
          <p:cNvSpPr/>
          <p:nvPr/>
        </p:nvSpPr>
        <p:spPr>
          <a:xfrm>
            <a:off x="9601200" y="49834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2560320" y="2217420"/>
            <a:ext cx="182880" cy="9144"/>
          </a:xfrm>
          <a:prstGeom prst="line">
            <a:avLst/>
          </a:prstGeom>
          <a:noFill/>
          <a:ln w="12700">
            <a:solidFill>
              <a:srgbClr val="9AA7C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532888" y="2098548"/>
            <a:ext cx="51206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532888" y="209854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1508760" y="2606040"/>
            <a:ext cx="9144" cy="274320"/>
          </a:xfrm>
          <a:prstGeom prst="line">
            <a:avLst/>
          </a:prstGeom>
          <a:noFill/>
          <a:ln w="12700">
            <a:solidFill>
              <a:srgbClr val="9AA7C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252728" y="2624328"/>
            <a:ext cx="51206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252728" y="262432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3794760" y="2606040"/>
            <a:ext cx="9144" cy="274320"/>
          </a:xfrm>
          <a:prstGeom prst="line">
            <a:avLst/>
          </a:prstGeom>
          <a:noFill/>
          <a:ln w="12700">
            <a:solidFill>
              <a:srgbClr val="9AA7C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538728" y="2624328"/>
            <a:ext cx="51206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538728" y="262432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8366760" y="2606040"/>
            <a:ext cx="9144" cy="274320"/>
          </a:xfrm>
          <a:prstGeom prst="line">
            <a:avLst/>
          </a:prstGeom>
          <a:noFill/>
          <a:ln w="12700">
            <a:solidFill>
              <a:srgbClr val="9AA7C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110728" y="2624328"/>
            <a:ext cx="51206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110728" y="262432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2560320" y="3268980"/>
            <a:ext cx="182880" cy="9144"/>
          </a:xfrm>
          <a:prstGeom prst="line">
            <a:avLst/>
          </a:prstGeom>
          <a:noFill/>
          <a:ln w="12700">
            <a:solidFill>
              <a:srgbClr val="9AA7C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532888" y="3150108"/>
            <a:ext cx="51206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532888" y="315010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1:1*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4846320" y="3268980"/>
            <a:ext cx="2468880" cy="9144"/>
          </a:xfrm>
          <a:prstGeom prst="line">
            <a:avLst/>
          </a:prstGeom>
          <a:noFill/>
          <a:ln w="12700">
            <a:solidFill>
              <a:srgbClr val="9AA7C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824728" y="3150108"/>
            <a:ext cx="51206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824728" y="315010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M:N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3794760" y="3657600"/>
            <a:ext cx="9144" cy="274320"/>
          </a:xfrm>
          <a:prstGeom prst="line">
            <a:avLst/>
          </a:prstGeom>
          <a:noFill/>
          <a:ln w="12700">
            <a:solidFill>
              <a:srgbClr val="9AA7C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538728" y="3675888"/>
            <a:ext cx="51206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538728" y="367588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8366760" y="3657600"/>
            <a:ext cx="9144" cy="274320"/>
          </a:xfrm>
          <a:prstGeom prst="line">
            <a:avLst/>
          </a:prstGeom>
          <a:noFill/>
          <a:ln w="12700">
            <a:solidFill>
              <a:srgbClr val="9AA7C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110728" y="3675888"/>
            <a:ext cx="51206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110728" y="367588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4846320" y="4320540"/>
            <a:ext cx="2468880" cy="9144"/>
          </a:xfrm>
          <a:prstGeom prst="line">
            <a:avLst/>
          </a:prstGeom>
          <a:noFill/>
          <a:ln w="12700">
            <a:solidFill>
              <a:srgbClr val="9AA7C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824728" y="4201668"/>
            <a:ext cx="51206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824728" y="420166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3794760" y="3268980"/>
            <a:ext cx="9144" cy="498348"/>
          </a:xfrm>
          <a:prstGeom prst="line">
            <a:avLst/>
          </a:prstGeom>
          <a:noFill/>
          <a:ln w="12700">
            <a:solidFill>
              <a:srgbClr val="9AA7C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794760" y="3767328"/>
            <a:ext cx="2286000" cy="9144"/>
          </a:xfrm>
          <a:prstGeom prst="line">
            <a:avLst/>
          </a:prstGeom>
          <a:noFill/>
          <a:ln w="12700">
            <a:solidFill>
              <a:srgbClr val="9AA7C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080760" y="3767328"/>
            <a:ext cx="9144" cy="1078992"/>
          </a:xfrm>
          <a:prstGeom prst="line">
            <a:avLst/>
          </a:prstGeom>
          <a:noFill/>
          <a:ln w="12700">
            <a:solidFill>
              <a:srgbClr val="9AA7C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508760" y="4846320"/>
            <a:ext cx="9144000" cy="9144"/>
          </a:xfrm>
          <a:prstGeom prst="line">
            <a:avLst/>
          </a:prstGeom>
          <a:noFill/>
          <a:ln w="12700">
            <a:solidFill>
              <a:srgbClr val="9AA7C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508760" y="4846320"/>
            <a:ext cx="9144" cy="137160"/>
          </a:xfrm>
          <a:prstGeom prst="line">
            <a:avLst/>
          </a:prstGeom>
          <a:noFill/>
          <a:ln w="12700">
            <a:solidFill>
              <a:srgbClr val="9AA7C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794760" y="4846320"/>
            <a:ext cx="9144" cy="137160"/>
          </a:xfrm>
          <a:prstGeom prst="line">
            <a:avLst/>
          </a:prstGeom>
          <a:noFill/>
          <a:ln w="12700">
            <a:solidFill>
              <a:srgbClr val="9AA7C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080760" y="4846320"/>
            <a:ext cx="9144" cy="137160"/>
          </a:xfrm>
          <a:prstGeom prst="line">
            <a:avLst/>
          </a:prstGeom>
          <a:noFill/>
          <a:ln w="12700">
            <a:solidFill>
              <a:srgbClr val="9AA7C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366760" y="4846320"/>
            <a:ext cx="9144" cy="137160"/>
          </a:xfrm>
          <a:prstGeom prst="line">
            <a:avLst/>
          </a:prstGeom>
          <a:noFill/>
          <a:ln w="12700">
            <a:solidFill>
              <a:srgbClr val="9AA7C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652760" y="4846320"/>
            <a:ext cx="9144" cy="137160"/>
          </a:xfrm>
          <a:prstGeom prst="line">
            <a:avLst/>
          </a:prstGeom>
          <a:noFill/>
          <a:ln w="12700">
            <a:solidFill>
              <a:srgbClr val="9AA7C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824728" y="4727448"/>
            <a:ext cx="51206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824728" y="472744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M:N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548640" y="60533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*Student &amp; Instructor are both specialisations of Users (IS-A)  ·  Student ↔ each University-Services entity below is M:N</a:t>
            </a:r>
            <a:endParaRPr lang="en-US" sz="950" dirty="0"/>
          </a:p>
        </p:txBody>
      </p:sp>
      <p:sp>
        <p:nvSpPr>
          <p:cNvPr id="96" name="Text 9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ERP &amp; Campus Portal  |  CSE-2201 DBMS Lab Project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RELATIONAL DESIGN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Normalization &amp; Functional Dependencies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35 tables verified up to 3NF / BCNF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645920" cy="384048"/>
          </a:xfrm>
          <a:prstGeom prst="rect">
            <a:avLst/>
          </a:prstGeom>
          <a:solidFill>
            <a:srgbClr val="1B2A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745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194560" y="1874520"/>
            <a:ext cx="4937760" cy="384048"/>
          </a:xfrm>
          <a:prstGeom prst="rect">
            <a:avLst/>
          </a:prstGeom>
          <a:solidFill>
            <a:srgbClr val="1B2A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4560" y="18745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132320" y="1874520"/>
            <a:ext cx="2286000" cy="384048"/>
          </a:xfrm>
          <a:prstGeom prst="rect">
            <a:avLst/>
          </a:prstGeom>
          <a:solidFill>
            <a:srgbClr val="1B2A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0" y="18745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Key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418320" y="1874520"/>
            <a:ext cx="1280160" cy="384048"/>
          </a:xfrm>
          <a:prstGeom prst="rect">
            <a:avLst/>
          </a:prstGeom>
          <a:solidFill>
            <a:srgbClr val="1B2A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0" y="18745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258568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258568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194560" y="2258568"/>
            <a:ext cx="4937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7712" y="2258568"/>
            <a:ext cx="4791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 → {name, program_id, cgpa, roll}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132320" y="2258568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05472" y="2258568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student_roll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418320" y="2258568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91472" y="2258568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BCNF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2642616"/>
            <a:ext cx="1645920" cy="384048"/>
          </a:xfrm>
          <a:prstGeom prst="rect">
            <a:avLst/>
          </a:prstGeom>
          <a:solidFill>
            <a:srgbClr val="F3F5FA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2642616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194560" y="2642616"/>
            <a:ext cx="4937760" cy="384048"/>
          </a:xfrm>
          <a:prstGeom prst="rect">
            <a:avLst/>
          </a:prstGeom>
          <a:solidFill>
            <a:srgbClr val="F3F5FA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67712" y="2642616"/>
            <a:ext cx="4791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(student_id, section_id) → {grade, status}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132320" y="2642616"/>
            <a:ext cx="2286000" cy="384048"/>
          </a:xfrm>
          <a:prstGeom prst="rect">
            <a:avLst/>
          </a:prstGeom>
          <a:solidFill>
            <a:srgbClr val="F3F5FA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05472" y="2642616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enrollment_id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418320" y="2642616"/>
            <a:ext cx="1280160" cy="384048"/>
          </a:xfrm>
          <a:prstGeom prst="rect">
            <a:avLst/>
          </a:prstGeom>
          <a:solidFill>
            <a:srgbClr val="F3F5FA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91472" y="2642616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BCNF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3026664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" y="3026664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194560" y="3026664"/>
            <a:ext cx="4937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67712" y="3026664"/>
            <a:ext cx="4791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section_id → {course_id, instructor_id, room_id}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132320" y="3026664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05472" y="3026664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(course,sem,sec#)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418320" y="3026664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91472" y="3026664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BCNF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3410712"/>
            <a:ext cx="1645920" cy="384048"/>
          </a:xfrm>
          <a:prstGeom prst="rect">
            <a:avLst/>
          </a:prstGeom>
          <a:solidFill>
            <a:srgbClr val="F3F5FA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" y="3410712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194560" y="3410712"/>
            <a:ext cx="4937760" cy="384048"/>
          </a:xfrm>
          <a:prstGeom prst="rect">
            <a:avLst/>
          </a:prstGeom>
          <a:solidFill>
            <a:srgbClr val="F3F5FA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67712" y="3410712"/>
            <a:ext cx="4791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course_id → {name, credits, dept_id}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132320" y="3410712"/>
            <a:ext cx="2286000" cy="384048"/>
          </a:xfrm>
          <a:prstGeom prst="rect">
            <a:avLst/>
          </a:prstGeom>
          <a:solidFill>
            <a:srgbClr val="F3F5FA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05472" y="341071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course_code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418320" y="3410712"/>
            <a:ext cx="1280160" cy="384048"/>
          </a:xfrm>
          <a:prstGeom prst="rect">
            <a:avLst/>
          </a:prstGeom>
          <a:solidFill>
            <a:srgbClr val="F3F5FA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491472" y="3410712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BCNF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48640" y="3794760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" y="3794760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Teacher_Review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194560" y="3794760"/>
            <a:ext cx="4937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67712" y="3794760"/>
            <a:ext cx="4791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(student,section,sem) → {ratings}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132320" y="3794760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05472" y="3794760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review_id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9418320" y="3794760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491472" y="3794760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BCNF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4864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design holds up: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548640" y="4526280"/>
            <a:ext cx="11064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partial dependencies — every non-key attribute depends on the whole primary key (verified across all composite keys).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transitive dependencies — no non-key attribute determines another non-key attribute.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Teacher_Review.overall_rating is a GENERATED ALWAYS computed column — not a stored FD, so it is not a normalization violation.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Section.enrolled_count is a deliberately denormalized cache, kept consistent by trigger trg_enrolled_count — a documented, justified exception.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ERP &amp; Campus Portal  |  CSE-2201 DBMS Lab Project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RELATIONAL DESIGN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Goodness Beyond Normal Form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coverage, automation &amp; performance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F3F5FA"/>
          </a:solidFill>
          <a:ln/>
          <a:effectLst>
            <a:outerShdw sx="100000" sy="100000" kx="0" ky="0" algn="bl" rotWithShape="0" blurRad="101600" dist="38100" dir="5400000">
              <a:srgbClr val="16213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65960"/>
            <a:ext cx="361188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659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3154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/ FK on every table</a:t>
            </a:r>
            <a:endParaRPr lang="en-US" sz="11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on natural keys (roll, code, email)</a:t>
            </a:r>
            <a:endParaRPr lang="en-US" sz="11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on ranges (CGPA 0–4, ratings 1–5)</a:t>
            </a:r>
            <a:endParaRPr lang="en-US" sz="11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DELETE / UPDATE rules per relationship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F3F5FA"/>
          </a:solidFill>
          <a:ln/>
          <a:effectLst>
            <a:outerShdw sx="100000" sy="100000" kx="0" ky="0" algn="bl" rotWithShape="0" blurRad="101600" dist="38100" dir="5400000">
              <a:srgbClr val="16213E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965960"/>
            <a:ext cx="361188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19659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72000" y="2606040"/>
            <a:ext cx="3154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triggers: CGPA auto-calc, enrolled_count sync, updated_at stamps</a:t>
            </a:r>
            <a:endParaRPr lang="en-US" sz="11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stored procedures: sp_enroll_student, sp_submit_teacher_review</a:t>
            </a:r>
            <a:endParaRPr lang="en-US" sz="11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column for overall_rating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196596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F3F5FA"/>
          </a:solidFill>
          <a:ln/>
          <a:effectLst>
            <a:outerShdw sx="100000" sy="100000" kx="0" ky="0" algn="bl" rotWithShape="0" blurRad="101600" dist="38100" dir="5400000">
              <a:srgbClr val="16213E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38160" y="1965960"/>
            <a:ext cx="3611880" cy="457200"/>
          </a:xfrm>
          <a:prstGeom prst="rect">
            <a:avLst/>
          </a:prstGeom>
          <a:solidFill>
            <a:srgbClr val="C08A2E"/>
          </a:solidFill>
          <a:ln/>
        </p:spPr>
      </p:sp>
      <p:sp>
        <p:nvSpPr>
          <p:cNvPr id="15" name="Text 13"/>
          <p:cNvSpPr/>
          <p:nvPr/>
        </p:nvSpPr>
        <p:spPr>
          <a:xfrm>
            <a:off x="8138160" y="19659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&amp; Access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366760" y="2606040"/>
            <a:ext cx="3154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role-based dashboard views (student/teacher/admin)</a:t>
            </a:r>
            <a:endParaRPr lang="en-US" sz="11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recommended indexes on high-traffic FKs</a:t>
            </a:r>
            <a:endParaRPr lang="en-US" sz="11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via Permission + Role_Permission tables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ERP &amp; Campus Portal  |  CSE-2201 DBMS Lab Project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(E) TOOLS &amp; TECHNIQUES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Stack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user-facing campus experience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3F5FA"/>
          </a:solidFill>
          <a:ln/>
          <a:effectLst>
            <a:outerShdw sx="100000" sy="100000" kx="0" ky="0" algn="bl" rotWithShape="0" blurRad="101600" dist="38100" dir="5400000">
              <a:srgbClr val="16213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2402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0848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Next.js 14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24688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Router, server components, file-based routing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196596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3F5FA"/>
          </a:solidFill>
          <a:ln/>
          <a:effectLst>
            <a:outerShdw sx="100000" sy="100000" kx="0" ky="0" algn="bl" rotWithShape="0" blurRad="101600" dist="38100" dir="5400000">
              <a:srgbClr val="16213E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22402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40880" y="20848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18 + TypeScript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40880" y="24688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Type-safe, component-driven UI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218688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3F5FA"/>
          </a:solidFill>
          <a:ln/>
          <a:effectLst>
            <a:outerShdw sx="100000" sy="100000" kx="0" ky="0" algn="bl" rotWithShape="0" blurRad="101600" dist="38100" dir="5400000">
              <a:srgbClr val="16213E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49300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493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33375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Tailwind CSS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37216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responsive styling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72200" y="3218688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3F5FA"/>
          </a:solidFill>
          <a:ln/>
          <a:effectLst>
            <a:outerShdw sx="100000" sy="100000" kx="0" ky="0" algn="bl" rotWithShape="0" blurRad="101600" dist="38100" dir="5400000">
              <a:srgbClr val="16213E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5080" y="349300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3493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40880" y="33375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Framer Motion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40880" y="37216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transitions &amp; micro-interactions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471416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3F5FA"/>
          </a:solidFill>
          <a:ln/>
          <a:effectLst>
            <a:outerShdw sx="100000" sy="100000" kx="0" ky="0" algn="bl" rotWithShape="0" blurRad="101600" dist="38100" dir="5400000">
              <a:srgbClr val="16213E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47457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745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17320" y="45902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 JS Client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17320" y="497433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sessions, direct queries, realtime subscriptions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72200" y="4471416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3F5FA"/>
          </a:solidFill>
          <a:ln/>
          <a:effectLst>
            <a:outerShdw sx="100000" sy="100000" kx="0" ky="0" algn="bl" rotWithShape="0" blurRad="101600" dist="38100" dir="5400000">
              <a:srgbClr val="16213E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55080" y="47457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6355080" y="4745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40880" y="45902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lucide-react / react-easy-crop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040880" y="497433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Iconography &amp; profile photo cropping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ERP &amp; Campus Portal  |  CSE-2201 DBMS Lab Project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(E) TOOLS &amp; TECHNIQUES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Backend, Database &amp;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Supabase Postgres, deployed on Vercel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486400" cy="475488"/>
          </a:xfrm>
          <a:prstGeom prst="roundRect">
            <a:avLst>
              <a:gd name="adj" fmla="val 15385"/>
            </a:avLst>
          </a:prstGeom>
          <a:solidFill>
            <a:srgbClr val="F3F5F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 + Uvicorn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63240" y="1920240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 for profile, notices, classes, achievements, chat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5486400" cy="475488"/>
          </a:xfrm>
          <a:prstGeom prst="roundRect">
            <a:avLst>
              <a:gd name="adj" fmla="val 15385"/>
            </a:avLst>
          </a:prstGeom>
          <a:solidFill>
            <a:srgbClr val="F3F5F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4871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PyJWT (HS256 / JWKS)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63240" y="2487168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Supabase-issued JWTs on every request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054096"/>
            <a:ext cx="5486400" cy="475488"/>
          </a:xfrm>
          <a:prstGeom prst="roundRect">
            <a:avLst>
              <a:gd name="adj" fmla="val 15385"/>
            </a:avLst>
          </a:prstGeom>
          <a:solidFill>
            <a:srgbClr val="F3F5F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05409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63240" y="3054096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Storage (4 buckets), Realtime, Row-Level Security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621024"/>
            <a:ext cx="5486400" cy="475488"/>
          </a:xfrm>
          <a:prstGeom prst="roundRect">
            <a:avLst>
              <a:gd name="adj" fmla="val 15385"/>
            </a:avLst>
          </a:prstGeom>
          <a:solidFill>
            <a:srgbClr val="F3F5F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62102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pgcrypto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63240" y="3621024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bcrypt-style hashing for chat room passwords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92240" y="196596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16213E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19659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 UI)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560" y="2743200"/>
            <a:ext cx="9144" cy="228600"/>
          </a:xfrm>
          <a:prstGeom prst="line">
            <a:avLst/>
          </a:prstGeom>
          <a:noFill/>
          <a:ln w="19050">
            <a:solidFill>
              <a:srgbClr val="5B6B8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297180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16213E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92240" y="29718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on Vercel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52560" y="3749040"/>
            <a:ext cx="9144" cy="228600"/>
          </a:xfrm>
          <a:prstGeom prst="line">
            <a:avLst/>
          </a:prstGeom>
          <a:noFill/>
          <a:ln w="19050">
            <a:solidFill>
              <a:srgbClr val="5B6B8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0" y="397764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16213E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92240" y="39776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052560" y="4754880"/>
            <a:ext cx="9144" cy="228600"/>
          </a:xfrm>
          <a:prstGeom prst="line">
            <a:avLst/>
          </a:prstGeom>
          <a:noFill/>
          <a:ln w="19050">
            <a:solidFill>
              <a:srgbClr val="5B6B8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0" y="498348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C08A2E"/>
          </a:solidFill>
          <a:ln/>
          <a:effectLst>
            <a:outerShdw sx="100000" sy="100000" kx="0" ky="0" algn="bl" rotWithShape="0" blurRad="101600" dist="38100" dir="5400000">
              <a:srgbClr val="16213E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92240" y="49834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(Postgres · Auth · Storage · Realtime)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1612880" y="5367528"/>
            <a:ext cx="320040" cy="9144"/>
          </a:xfrm>
          <a:prstGeom prst="line">
            <a:avLst/>
          </a:prstGeom>
          <a:noFill/>
          <a:ln w="19050">
            <a:solidFill>
              <a:srgbClr val="5B6B8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11932920" y="2350008"/>
            <a:ext cx="9144" cy="3017520"/>
          </a:xfrm>
          <a:prstGeom prst="line">
            <a:avLst/>
          </a:prstGeom>
          <a:noFill/>
          <a:ln w="19050">
            <a:solidFill>
              <a:srgbClr val="5B6B8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H="1">
            <a:off x="11612880" y="2350008"/>
            <a:ext cx="320040" cy="9144"/>
          </a:xfrm>
          <a:prstGeom prst="line">
            <a:avLst/>
          </a:prstGeom>
          <a:noFill/>
          <a:ln w="19050">
            <a:solidFill>
              <a:srgbClr val="5B6B8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 rot="16200000">
            <a:off x="11658600" y="3657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push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ERP &amp; Campus Portal  |  CSE-2201 DBMS Lab Project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(F) PARTNER CONTRIBUTIONS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Built What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commits over ~7 weeks — a balanced, full-stack collaboration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49240" cy="3749040"/>
          </a:xfrm>
          <a:prstGeom prst="roundRect">
            <a:avLst>
              <a:gd name="adj" fmla="val 1951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16213E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Syed Muhtasim Apon (Alam)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B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commits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00" b="1" dirty="0">
                <a:solidFill>
                  <a:srgbClr val="E9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relational database schema (both the formal ERP design and the deployed Supabase schema)</a:t>
            </a:r>
            <a:endParaRPr lang="en-US" sz="12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00" b="1" dirty="0">
                <a:solidFill>
                  <a:srgbClr val="E9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FastAPI backend &amp; JWT authentication flow</a:t>
            </a:r>
            <a:endParaRPr lang="en-US" sz="12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00" b="1" dirty="0">
                <a:solidFill>
                  <a:srgbClr val="E9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the Notice Board module and real-time notifications</a:t>
            </a:r>
            <a:endParaRPr lang="en-US" sz="12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00" b="1" dirty="0">
                <a:solidFill>
                  <a:srgbClr val="E9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profile &amp; dashboard shell</a:t>
            </a:r>
            <a:endParaRPr lang="en-US" sz="12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00" b="1" dirty="0">
                <a:solidFill>
                  <a:srgbClr val="E9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deployment / DevOps (Vercel, environment config)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920240"/>
            <a:ext cx="5394960" cy="3749040"/>
          </a:xfrm>
          <a:prstGeom prst="roundRect">
            <a:avLst>
              <a:gd name="adj" fmla="val 1951"/>
            </a:avLst>
          </a:prstGeom>
          <a:solidFill>
            <a:srgbClr val="F3F5FA"/>
          </a:solidFill>
          <a:ln/>
          <a:effectLst>
            <a:outerShdw sx="100000" sy="100000" kx="0" ky="0" algn="bl" rotWithShape="0" blurRad="101600" dist="38100" dir="5400000">
              <a:srgbClr val="16213E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Abdullah Sorwar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25146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commits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37960" y="292608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realtime chatroom system: direct, group &amp; advisor messaging</a:t>
            </a:r>
            <a:endParaRPr lang="en-US" sz="12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chat requests, reactions, attachments &amp; image cropping</a:t>
            </a:r>
            <a:endParaRPr lang="en-US" sz="12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UI/UX polish, animations and visual interaction design</a:t>
            </a:r>
            <a:endParaRPr lang="en-US" sz="12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Contributed to general bug fixes and cross-module testing</a:t>
            </a:r>
            <a:endParaRPr lang="en-US" sz="12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Collaborated on merges and shared feature integration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members collaborated closely on core modules (Classes &amp; Achievements) — commit history shows an even, full-stack split rather than a strict frontend/backend divide.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ERP &amp; Campus Portal  |  CSE-2201 DBMS Lab Project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(G) LEARNING OUTCOMES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Learned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applied to a real, production-shaped system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F3F5FA"/>
          </a:solidFill>
          <a:ln/>
          <a:effectLst>
            <a:outerShdw sx="100000" sy="100000" kx="0" ky="0" algn="bl" rotWithShape="0" blurRad="101600" dist="38100" dir="5400000">
              <a:srgbClr val="16213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4380" y="21717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54380" y="21717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278892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Normalization in practice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3136392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3NF/BCNF theory to a 35-table schema and proved it with real FD analysis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43400" y="196596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F3F5FA"/>
          </a:solidFill>
          <a:ln/>
          <a:effectLst>
            <a:outerShdw sx="100000" sy="100000" kx="0" ky="0" algn="bl" rotWithShape="0" blurRad="101600" dist="38100" dir="5400000">
              <a:srgbClr val="16213E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49140" y="217170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4549140" y="21717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44568" y="278892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SQL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44568" y="3136392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EXISTS/ALL, CTEs with window functions, FILTER aggregates, views, triggers &amp; stored procedures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138160" y="196596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F3F5FA"/>
          </a:solidFill>
          <a:ln/>
          <a:effectLst>
            <a:outerShdw sx="100000" sy="100000" kx="0" ky="0" algn="bl" rotWithShape="0" blurRad="101600" dist="38100" dir="5400000">
              <a:srgbClr val="16213E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43900" y="21717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343900" y="21717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39328" y="278892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control design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339328" y="3136392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and Postgres Row-Level Security for multi-role apps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F3F5FA"/>
          </a:solidFill>
          <a:ln/>
          <a:effectLst>
            <a:outerShdw sx="100000" sy="100000" kx="0" ky="0" algn="bl" rotWithShape="0" blurRad="101600" dist="38100" dir="5400000">
              <a:srgbClr val="16213E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4380" y="395478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754380" y="39547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9808" y="457200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Full-stack integration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49808" y="4919472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Next.js, FastAPI and Postgres together through a typed API layer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43400" y="374904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F3F5FA"/>
          </a:solidFill>
          <a:ln/>
          <a:effectLst>
            <a:outerShdw sx="100000" sy="100000" kx="0" ky="0" algn="bl" rotWithShape="0" blurRad="101600" dist="38100" dir="5400000">
              <a:srgbClr val="16213E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49140" y="39547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4549140" y="39547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44568" y="457200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 &amp; security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44568" y="4919472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verification (HS256/JWKS), session middleware, locked-field authorization rules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138160" y="374904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F3F5FA"/>
          </a:solidFill>
          <a:ln/>
          <a:effectLst>
            <a:outerShdw sx="100000" sy="100000" kx="0" ky="0" algn="bl" rotWithShape="0" blurRad="101600" dist="38100" dir="5400000">
              <a:srgbClr val="16213E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43900" y="395478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2" name="Text 30"/>
          <p:cNvSpPr/>
          <p:nvPr/>
        </p:nvSpPr>
        <p:spPr>
          <a:xfrm>
            <a:off x="8343900" y="39547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39328" y="457200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collaboration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339328" y="4919472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Coordinating schema, backend and frontend work across a multi-week Git workflow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ERP &amp; Campus Portal  |  CSE-2201 DBMS Lab Project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(H) LIMITATIONS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Limitations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look at the gap between design and deployment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1064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vs. deployment gap: the formal 35-table ERP design and the deployed Supabase schema (43 tables) have diverged — some course-required entities exist only on paper.</a:t>
            </a:r>
            <a:endParaRPr lang="en-US" sz="1450" dirty="0"/>
          </a:p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 Management, Transport, Teacher Review and Appointment Booking modules are fully designed but not yet implemented in the live application.</a:t>
            </a:r>
            <a:endParaRPr lang="en-US" sz="1450" dirty="0"/>
          </a:p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Polymorphic tables (achievement_comment, achievement_rating, achievement_reaction keyed by type + target_id) trade strict foreign-key referential integrity for flexibility.</a:t>
            </a:r>
            <a:endParaRPr lang="en-US" sz="1450" dirty="0"/>
          </a:p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documentation lags behind the actual feature set — it still describes only the original auth-demo scope.</a:t>
            </a:r>
            <a:endParaRPr lang="en-US" sz="1450" dirty="0"/>
          </a:p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test suite (unit/integration) currently covers the FastAPI routers or frontend components.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ERP &amp; Campus Portal  |  CSE-2201 DBMS Lab Project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(H) FUTURE PLAN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(H) FUTURE PLAN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Go From Here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gap between the theoretical design and the live product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1B2A4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263140"/>
            <a:ext cx="457200" cy="457200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2631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208483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 remaining modules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71600" y="24688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 Management, Transport, Teacher Review &amp; Appointment Booking in the live app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72200" y="196596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1B2A4A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0" y="2263140"/>
            <a:ext cx="457200" cy="457200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2631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95160" y="208483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testing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995160" y="24688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&amp; integration tests for FastAPI routers and key frontend flows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218688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1B2A4A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3515868"/>
            <a:ext cx="457200" cy="457200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5158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33375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RBAC dashboard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71600" y="372160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UI on top of the Permission / Role_Permission tables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72200" y="3218688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1B2A4A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0" y="3515868"/>
            <a:ext cx="457200" cy="457200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35158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95160" y="33375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Mobile-friendly PWA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995160" y="372160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Offline-friendly, installable experience for on-campus use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471416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1B2A4A"/>
          </a:solidFill>
          <a:ln/>
        </p:spPr>
      </p:sp>
      <p:sp>
        <p:nvSpPr>
          <p:cNvPr id="27" name="Shape 25"/>
          <p:cNvSpPr/>
          <p:nvPr/>
        </p:nvSpPr>
        <p:spPr>
          <a:xfrm>
            <a:off x="777240" y="4768596"/>
            <a:ext cx="457200" cy="457200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47685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371600" y="459028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dashboards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371600" y="4974336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the 6 existing SQL views (attendance, CGPA trends, reviews) visually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ERP &amp; Campus Portal  |  CSE-2201 DBMS Lab Project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2B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Live Demo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297680"/>
            <a:ext cx="10515600" cy="1371600"/>
          </a:xfrm>
          <a:prstGeom prst="roundRect">
            <a:avLst>
              <a:gd name="adj" fmla="val 5333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4526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Syed Muhtasim Apon (Alam)  ·  Abdullah Sorwar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4937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CSE-2201 Database Management System  |  Dept. of CSE, University of Dhaka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5257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muhtasim-apon/cse_2202_project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2026-07-21T09:04:33Z</dcterms:created>
  <dcterms:modified xsi:type="dcterms:W3CDTF">2026-07-21T09:04:33Z</dcterms:modified>
</cp:coreProperties>
</file>